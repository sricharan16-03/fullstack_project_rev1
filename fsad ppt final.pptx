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71" r:id="rId8"/>
    <p:sldId id="262" r:id="rId9"/>
    <p:sldId id="263" r:id="rId10"/>
    <p:sldId id="264" r:id="rId11"/>
    <p:sldId id="266" r:id="rId12"/>
    <p:sldId id="269" r:id="rId13"/>
    <p:sldId id="267" r:id="rId14"/>
    <p:sldId id="268"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29"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DD-MM-YYYY</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END-END EVENT LIFECYCLE &amp; TICKETING</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CH SRICHARAN – VTU25719 – 23UECS0106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9961670" y="7800538"/>
            <a:ext cx="759556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a:t>
            </a:r>
            <a:r>
              <a:rPr lang="en-US" sz="3000" dirty="0" err="1">
                <a:latin typeface="Cambria" panose="02040503050406030204" pitchFamily="18" charset="0"/>
                <a:ea typeface="Cambria" panose="02040503050406030204" pitchFamily="18" charset="0"/>
              </a:rPr>
              <a:t>X.Arogya</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Presskila</a:t>
            </a:r>
            <a:r>
              <a:rPr lang="en-US" sz="3000" dirty="0">
                <a:latin typeface="Cambria" panose="02040503050406030204" pitchFamily="18" charset="0"/>
                <a:ea typeface="Cambria" panose="02040503050406030204" pitchFamily="18" charset="0"/>
              </a:rPr>
              <a:t>/Assistant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0864513"/>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Traditional event booking often relies on fragmented systems, leading to overbooking, manual errors, and frustrating user experiences.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Event organizers struggle to track ticket sales and manage seats in real-time, while attendees face slow and restrictive booking processes.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project provides a centralized, automated platform that eliminates manual ticketing errors and ensures secure, real-time seat synchronization.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a digital-first era, users expect 24/7 self-service access to event discovery and instantaneous booking for everything from local meetups to major conferences.</a:t>
            </a:r>
          </a:p>
          <a:p>
            <a:pPr marL="457200" indent="-45720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EventX</a:t>
            </a:r>
            <a:r>
              <a:rPr lang="en-US" sz="2800" dirty="0">
                <a:latin typeface="Times New Roman" panose="02020603050405020304" pitchFamily="18" charset="0"/>
                <a:cs typeface="Times New Roman" panose="02020603050405020304" pitchFamily="18" charset="0"/>
              </a:rPr>
              <a:t> equips organizers with vital data-driven insights through analytics, enabling them to comprehend audience trends and optimally manage venue capacity.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platform is a modern full-stack web application built using Node.js, Express, HTML, CSS, JavaScript, and a MySQL relational database.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Attendees can effortlessly browse events, instantly view live seat availability, securely book tickets, and track their personal booking history.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Administrators utilize a powerful dashboard to create and edit events, cleanly manage all user bookings, and view dynamic visual charts for revenue and ticket utilization.</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6526" y="1999488"/>
            <a:ext cx="15082325" cy="4247317"/>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In the event management industry, organizers and attendees frequently suffer from fragmented and inefficient ticketing processes that rely on manual tracking or disconnected platforms. This lack of a centralized system leads to critical issues such as seat overbooking, delayed revenue reconciliation, and a frustrating, restrictive booking experience for users—especially during high-demand events. Furthermore, administrators lack access to real-time data analytics, making it difficult to understand audience behavior, optimize venue capacity, and maximize ticketing efficiency. </a:t>
            </a:r>
            <a:r>
              <a:rPr lang="en-US" sz="3000" dirty="0" err="1">
                <a:latin typeface="Times New Roman" panose="02020603050405020304" pitchFamily="18" charset="0"/>
                <a:cs typeface="Times New Roman" panose="02020603050405020304" pitchFamily="18" charset="0"/>
              </a:rPr>
              <a:t>EventX</a:t>
            </a:r>
            <a:r>
              <a:rPr lang="en-US" sz="3000" dirty="0">
                <a:latin typeface="Times New Roman" panose="02020603050405020304" pitchFamily="18" charset="0"/>
                <a:cs typeface="Times New Roman" panose="02020603050405020304" pitchFamily="18" charset="0"/>
              </a:rPr>
              <a:t> addresses these challenges by providing a secure, automated, full-stack ticketing platform that guarantees real-time seat synchronization and equips organizers with comprehensive, data-driven management tools.</a:t>
            </a:r>
            <a:endParaRPr lang="en-IN" sz="3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6494085"/>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design and develop a centralized, full-stack event ticketing web application that enables users to browse events, view real-time seat availability, and securely book tickets.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implement a comprehensive administrative dashboard that allows organizers to manage event details, track all bookings, and visualize real-time revenue and seat utilization analytics.</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667000" y="1662730"/>
            <a:ext cx="15082325" cy="7848302"/>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Comprehensive Ticketing Platform:</a:t>
            </a:r>
            <a:r>
              <a:rPr lang="en-US" sz="2800" dirty="0">
                <a:latin typeface="Times New Roman" panose="02020603050405020304" pitchFamily="18" charset="0"/>
                <a:cs typeface="Times New Roman" panose="02020603050405020304" pitchFamily="18" charset="0"/>
              </a:rPr>
              <a:t> The proposed solution is a full-stack web application that digitizes the entire event lifecycle, offering a robust backend API and responsive frontend interfaces.</a:t>
            </a:r>
          </a:p>
          <a:p>
            <a:r>
              <a:rPr lang="en-US" sz="2800" b="1" dirty="0">
                <a:latin typeface="Times New Roman" panose="02020603050405020304" pitchFamily="18" charset="0"/>
                <a:cs typeface="Times New Roman" panose="02020603050405020304" pitchFamily="18" charset="0"/>
              </a:rPr>
              <a:t>Unified Event Management:</a:t>
            </a:r>
            <a:r>
              <a:rPr lang="en-US" sz="2800" dirty="0">
                <a:latin typeface="Times New Roman" panose="02020603050405020304" pitchFamily="18" charset="0"/>
                <a:cs typeface="Times New Roman" panose="02020603050405020304" pitchFamily="18" charset="0"/>
              </a:rPr>
              <a:t> It solves fragmentation by combining event creation, ticket inventory tracking, and payment calculation into one synchronized database system.</a:t>
            </a:r>
          </a:p>
          <a:p>
            <a:r>
              <a:rPr lang="en-US" sz="2800" b="1" dirty="0">
                <a:latin typeface="Times New Roman" panose="02020603050405020304" pitchFamily="18" charset="0"/>
                <a:cs typeface="Times New Roman" panose="02020603050405020304" pitchFamily="18" charset="0"/>
              </a:rPr>
              <a:t>Real-Time Seat Synchronization:</a:t>
            </a:r>
            <a:r>
              <a:rPr lang="en-US" sz="2800" dirty="0">
                <a:latin typeface="Times New Roman" panose="02020603050405020304" pitchFamily="18" charset="0"/>
                <a:cs typeface="Times New Roman" panose="02020603050405020304" pitchFamily="18" charset="0"/>
              </a:rPr>
              <a:t> The system actively updates available seating during the checkout process, completely eliminating the risk of overbooking common in manual systems.</a:t>
            </a:r>
          </a:p>
          <a:p>
            <a:r>
              <a:rPr lang="en-US" sz="2800" b="1" dirty="0">
                <a:latin typeface="Times New Roman" panose="02020603050405020304" pitchFamily="18" charset="0"/>
                <a:cs typeface="Times New Roman" panose="02020603050405020304" pitchFamily="18" charset="0"/>
              </a:rPr>
              <a:t>Automated Event Statuses:</a:t>
            </a:r>
            <a:r>
              <a:rPr lang="en-US" sz="2800" dirty="0">
                <a:latin typeface="Times New Roman" panose="02020603050405020304" pitchFamily="18" charset="0"/>
                <a:cs typeface="Times New Roman" panose="02020603050405020304" pitchFamily="18" charset="0"/>
              </a:rPr>
              <a:t> The platform automatically manages event statuses (e.g., upcoming, ongoing, completed), reducing the administrative burden of manually tracking timelines.</a:t>
            </a:r>
          </a:p>
          <a:p>
            <a:r>
              <a:rPr lang="en-US" sz="2800" b="1" dirty="0">
                <a:latin typeface="Times New Roman" panose="02020603050405020304" pitchFamily="18" charset="0"/>
                <a:cs typeface="Times New Roman" panose="02020603050405020304" pitchFamily="18" charset="0"/>
              </a:rPr>
              <a:t>Centralized Admin Dashboard:</a:t>
            </a:r>
            <a:r>
              <a:rPr lang="en-US" sz="2800" dirty="0">
                <a:latin typeface="Times New Roman" panose="02020603050405020304" pitchFamily="18" charset="0"/>
                <a:cs typeface="Times New Roman" panose="02020603050405020304" pitchFamily="18" charset="0"/>
              </a:rPr>
              <a:t> It provides organizers with a powerful dashboard consolidating all booking details and user data in an easily accessible tabular format.</a:t>
            </a:r>
          </a:p>
          <a:p>
            <a:r>
              <a:rPr lang="en-US" sz="2800" b="1" dirty="0">
                <a:latin typeface="Times New Roman" panose="02020603050405020304" pitchFamily="18" charset="0"/>
                <a:cs typeface="Times New Roman" panose="02020603050405020304" pitchFamily="18" charset="0"/>
              </a:rPr>
              <a:t>Data-Driven Visual Analytics:</a:t>
            </a:r>
            <a:r>
              <a:rPr lang="en-US" sz="2800" dirty="0">
                <a:latin typeface="Times New Roman" panose="02020603050405020304" pitchFamily="18" charset="0"/>
                <a:cs typeface="Times New Roman" panose="02020603050405020304" pitchFamily="18" charset="0"/>
              </a:rPr>
              <a:t> It offers distinct advantages with integrated, charting analytics that visualize ticket utilization and revenue distribution, allowing organizers to make immediate, informed decisions.</a:t>
            </a:r>
          </a:p>
          <a:p>
            <a:r>
              <a:rPr lang="en-US" sz="2800" b="1" dirty="0">
                <a:latin typeface="Times New Roman" panose="02020603050405020304" pitchFamily="18" charset="0"/>
                <a:cs typeface="Times New Roman" panose="02020603050405020304" pitchFamily="18" charset="0"/>
              </a:rPr>
              <a:t>Enhanced User Experience:</a:t>
            </a:r>
            <a:r>
              <a:rPr lang="en-US" sz="2800" dirty="0">
                <a:latin typeface="Times New Roman" panose="02020603050405020304" pitchFamily="18" charset="0"/>
                <a:cs typeface="Times New Roman" panose="02020603050405020304" pitchFamily="18" charset="0"/>
              </a:rPr>
              <a:t> Attendees benefit from an intuitive UI with fast searching, filtering by status, and immediate feedback on transactions, far superior to traditional physical or slow ticketing queues.</a:t>
            </a:r>
          </a:p>
          <a:p>
            <a:r>
              <a:rPr lang="en-US" sz="2800" b="1" dirty="0">
                <a:latin typeface="Times New Roman" panose="02020603050405020304" pitchFamily="18" charset="0"/>
                <a:cs typeface="Times New Roman" panose="02020603050405020304" pitchFamily="18" charset="0"/>
              </a:rPr>
              <a:t>Secure Authentication:</a:t>
            </a:r>
            <a:r>
              <a:rPr lang="en-US" sz="2800" dirty="0">
                <a:latin typeface="Times New Roman" panose="02020603050405020304" pitchFamily="18" charset="0"/>
                <a:cs typeface="Times New Roman" panose="02020603050405020304" pitchFamily="18" charset="0"/>
              </a:rPr>
              <a:t> Built-in JWT and </a:t>
            </a:r>
            <a:r>
              <a:rPr lang="en-US" sz="2800" dirty="0" err="1">
                <a:latin typeface="Times New Roman" panose="02020603050405020304" pitchFamily="18" charset="0"/>
                <a:cs typeface="Times New Roman" panose="02020603050405020304" pitchFamily="18" charset="0"/>
              </a:rPr>
              <a:t>Bcrypt</a:t>
            </a:r>
            <a:r>
              <a:rPr lang="en-US" sz="2800" dirty="0">
                <a:latin typeface="Times New Roman" panose="02020603050405020304" pitchFamily="18" charset="0"/>
                <a:cs typeface="Times New Roman" panose="02020603050405020304" pitchFamily="18" charset="0"/>
              </a:rPr>
              <a:t> integrations ensure that booking and administrative access remain insulated, providing higher security over legacy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9645892D-2AAE-45D8-57D9-C71770CF2E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51161" y="3081718"/>
            <a:ext cx="16230362" cy="46743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9E7C14A-07F1-F2A2-38A7-675BB91C03D3}"/>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08585E75-DC94-8687-2C77-7F2F2001FB13}"/>
              </a:ext>
            </a:extLst>
          </p:cNvPr>
          <p:cNvGrpSpPr/>
          <p:nvPr/>
        </p:nvGrpSpPr>
        <p:grpSpPr>
          <a:xfrm>
            <a:off x="709357" y="4655766"/>
            <a:ext cx="992463" cy="992463"/>
            <a:chOff x="0" y="0"/>
            <a:chExt cx="812800" cy="812800"/>
          </a:xfrm>
        </p:grpSpPr>
        <p:sp>
          <p:nvSpPr>
            <p:cNvPr id="6" name="Freeform 6">
              <a:extLst>
                <a:ext uri="{FF2B5EF4-FFF2-40B4-BE49-F238E27FC236}">
                  <a16:creationId xmlns:a16="http://schemas.microsoft.com/office/drawing/2014/main" id="{3A74A941-A411-E486-04E0-54F72C3AB4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39FCF869-6F22-3EB4-6A20-AF17AC466675}"/>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a:extLst>
              <a:ext uri="{FF2B5EF4-FFF2-40B4-BE49-F238E27FC236}">
                <a16:creationId xmlns:a16="http://schemas.microsoft.com/office/drawing/2014/main" id="{B76589D3-AB0D-7625-B241-779776C098D0}"/>
              </a:ext>
            </a:extLst>
          </p:cNvPr>
          <p:cNvGrpSpPr/>
          <p:nvPr/>
        </p:nvGrpSpPr>
        <p:grpSpPr>
          <a:xfrm>
            <a:off x="951509" y="3320505"/>
            <a:ext cx="508158" cy="543805"/>
            <a:chOff x="0" y="0"/>
            <a:chExt cx="812800" cy="869819"/>
          </a:xfrm>
        </p:grpSpPr>
        <p:sp>
          <p:nvSpPr>
            <p:cNvPr id="9" name="Freeform 9">
              <a:extLst>
                <a:ext uri="{FF2B5EF4-FFF2-40B4-BE49-F238E27FC236}">
                  <a16:creationId xmlns:a16="http://schemas.microsoft.com/office/drawing/2014/main" id="{1D68CE78-8EE8-D74E-1522-CE3D0F07AF0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C8E067AF-CC18-DEFD-1914-A89CBC05024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B9A1F211-7DBD-454B-5B2E-D4AFD65A66C7}"/>
              </a:ext>
            </a:extLst>
          </p:cNvPr>
          <p:cNvGrpSpPr/>
          <p:nvPr/>
        </p:nvGrpSpPr>
        <p:grpSpPr>
          <a:xfrm>
            <a:off x="951509" y="1987111"/>
            <a:ext cx="508158" cy="543805"/>
            <a:chOff x="0" y="0"/>
            <a:chExt cx="812800" cy="869819"/>
          </a:xfrm>
        </p:grpSpPr>
        <p:sp>
          <p:nvSpPr>
            <p:cNvPr id="12" name="Freeform 12">
              <a:extLst>
                <a:ext uri="{FF2B5EF4-FFF2-40B4-BE49-F238E27FC236}">
                  <a16:creationId xmlns:a16="http://schemas.microsoft.com/office/drawing/2014/main" id="{67FE2C37-9B64-898A-D7F3-5D7B2BF6FC8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FB038A4B-71BF-2530-92DF-3498B7C843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97638F4D-9E22-AABB-2AED-FB70C300E6E4}"/>
              </a:ext>
            </a:extLst>
          </p:cNvPr>
          <p:cNvGrpSpPr/>
          <p:nvPr/>
        </p:nvGrpSpPr>
        <p:grpSpPr>
          <a:xfrm>
            <a:off x="951509" y="3988135"/>
            <a:ext cx="508158" cy="543805"/>
            <a:chOff x="0" y="0"/>
            <a:chExt cx="812800" cy="869819"/>
          </a:xfrm>
        </p:grpSpPr>
        <p:sp>
          <p:nvSpPr>
            <p:cNvPr id="15" name="Freeform 15">
              <a:extLst>
                <a:ext uri="{FF2B5EF4-FFF2-40B4-BE49-F238E27FC236}">
                  <a16:creationId xmlns:a16="http://schemas.microsoft.com/office/drawing/2014/main" id="{0F239A77-F6D4-082B-C0D2-7552ACAFD23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64407E8-E504-CF0A-9FC5-50CE19E7ACA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654A7093-71AF-5133-69F9-3B3F2AF436F6}"/>
              </a:ext>
            </a:extLst>
          </p:cNvPr>
          <p:cNvGrpSpPr/>
          <p:nvPr/>
        </p:nvGrpSpPr>
        <p:grpSpPr>
          <a:xfrm>
            <a:off x="951509" y="2652874"/>
            <a:ext cx="508158" cy="543805"/>
            <a:chOff x="0" y="0"/>
            <a:chExt cx="812800" cy="869819"/>
          </a:xfrm>
        </p:grpSpPr>
        <p:sp>
          <p:nvSpPr>
            <p:cNvPr id="18" name="Freeform 18">
              <a:extLst>
                <a:ext uri="{FF2B5EF4-FFF2-40B4-BE49-F238E27FC236}">
                  <a16:creationId xmlns:a16="http://schemas.microsoft.com/office/drawing/2014/main" id="{58F6A519-D8A2-B548-7C9F-23375FFE4AE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2A62AF9D-88CA-C649-4838-D2BD99B3A2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22785513-63F4-7536-4EB0-0A5F6302C8C5}"/>
              </a:ext>
            </a:extLst>
          </p:cNvPr>
          <p:cNvGrpSpPr/>
          <p:nvPr/>
        </p:nvGrpSpPr>
        <p:grpSpPr>
          <a:xfrm>
            <a:off x="951509" y="6430348"/>
            <a:ext cx="508158" cy="543805"/>
            <a:chOff x="0" y="0"/>
            <a:chExt cx="812800" cy="869819"/>
          </a:xfrm>
        </p:grpSpPr>
        <p:sp>
          <p:nvSpPr>
            <p:cNvPr id="21" name="Freeform 21">
              <a:extLst>
                <a:ext uri="{FF2B5EF4-FFF2-40B4-BE49-F238E27FC236}">
                  <a16:creationId xmlns:a16="http://schemas.microsoft.com/office/drawing/2014/main" id="{92C3E3F2-8056-E4FC-81C7-09AE5C17B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5E991DD9-F76E-C4CE-3DC4-EBF1C0EF92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a:extLst>
              <a:ext uri="{FF2B5EF4-FFF2-40B4-BE49-F238E27FC236}">
                <a16:creationId xmlns:a16="http://schemas.microsoft.com/office/drawing/2014/main" id="{10FC34A3-9E93-6BA4-28B6-CE7449EB0066}"/>
              </a:ext>
            </a:extLst>
          </p:cNvPr>
          <p:cNvGrpSpPr/>
          <p:nvPr/>
        </p:nvGrpSpPr>
        <p:grpSpPr>
          <a:xfrm>
            <a:off x="951509" y="5764584"/>
            <a:ext cx="508158" cy="543805"/>
            <a:chOff x="0" y="0"/>
            <a:chExt cx="812800" cy="869819"/>
          </a:xfrm>
        </p:grpSpPr>
        <p:sp>
          <p:nvSpPr>
            <p:cNvPr id="24" name="Freeform 24">
              <a:extLst>
                <a:ext uri="{FF2B5EF4-FFF2-40B4-BE49-F238E27FC236}">
                  <a16:creationId xmlns:a16="http://schemas.microsoft.com/office/drawing/2014/main" id="{B59B4B03-9E20-F0CD-227B-64840296F28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A989A918-D495-B7C3-B8CB-3501DAED274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26" name="Group 26">
            <a:extLst>
              <a:ext uri="{FF2B5EF4-FFF2-40B4-BE49-F238E27FC236}">
                <a16:creationId xmlns:a16="http://schemas.microsoft.com/office/drawing/2014/main" id="{22BDDADD-A77F-DB11-396D-D38B22C9905A}"/>
              </a:ext>
            </a:extLst>
          </p:cNvPr>
          <p:cNvGrpSpPr/>
          <p:nvPr/>
        </p:nvGrpSpPr>
        <p:grpSpPr>
          <a:xfrm>
            <a:off x="951509" y="7088453"/>
            <a:ext cx="508158" cy="543805"/>
            <a:chOff x="0" y="0"/>
            <a:chExt cx="812800" cy="869819"/>
          </a:xfrm>
        </p:grpSpPr>
        <p:sp>
          <p:nvSpPr>
            <p:cNvPr id="27" name="Freeform 27">
              <a:extLst>
                <a:ext uri="{FF2B5EF4-FFF2-40B4-BE49-F238E27FC236}">
                  <a16:creationId xmlns:a16="http://schemas.microsoft.com/office/drawing/2014/main" id="{8926E5DE-84C2-A441-28D5-5936A8CB73F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19F6CB2B-7A0B-5779-684B-6FA805A800C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a:extLst>
              <a:ext uri="{FF2B5EF4-FFF2-40B4-BE49-F238E27FC236}">
                <a16:creationId xmlns:a16="http://schemas.microsoft.com/office/drawing/2014/main" id="{A01F51AD-97FF-A22F-41EB-BAE50C9F3421}"/>
              </a:ext>
            </a:extLst>
          </p:cNvPr>
          <p:cNvGrpSpPr/>
          <p:nvPr/>
        </p:nvGrpSpPr>
        <p:grpSpPr>
          <a:xfrm>
            <a:off x="951509" y="7756083"/>
            <a:ext cx="508158" cy="543805"/>
            <a:chOff x="0" y="0"/>
            <a:chExt cx="812800" cy="869819"/>
          </a:xfrm>
        </p:grpSpPr>
        <p:sp>
          <p:nvSpPr>
            <p:cNvPr id="30" name="Freeform 30">
              <a:extLst>
                <a:ext uri="{FF2B5EF4-FFF2-40B4-BE49-F238E27FC236}">
                  <a16:creationId xmlns:a16="http://schemas.microsoft.com/office/drawing/2014/main" id="{6CF52BEF-85BC-FE2B-071B-770F6A35E71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9125ABB8-CA78-1CF7-2953-C19D5EB086C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a:extLst>
              <a:ext uri="{FF2B5EF4-FFF2-40B4-BE49-F238E27FC236}">
                <a16:creationId xmlns:a16="http://schemas.microsoft.com/office/drawing/2014/main" id="{14525BD1-98F4-A328-CC39-EF3E60F1208D}"/>
              </a:ext>
            </a:extLst>
          </p:cNvPr>
          <p:cNvGrpSpPr/>
          <p:nvPr/>
        </p:nvGrpSpPr>
        <p:grpSpPr>
          <a:xfrm>
            <a:off x="11762088" y="-9632634"/>
            <a:ext cx="10994424" cy="10994424"/>
            <a:chOff x="0" y="0"/>
            <a:chExt cx="812800" cy="812800"/>
          </a:xfrm>
        </p:grpSpPr>
        <p:sp>
          <p:nvSpPr>
            <p:cNvPr id="38" name="Freeform 38">
              <a:extLst>
                <a:ext uri="{FF2B5EF4-FFF2-40B4-BE49-F238E27FC236}">
                  <a16:creationId xmlns:a16="http://schemas.microsoft.com/office/drawing/2014/main" id="{7BF029F8-9AA3-1D3E-2B4F-D548827364A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a:extLst>
                <a:ext uri="{FF2B5EF4-FFF2-40B4-BE49-F238E27FC236}">
                  <a16:creationId xmlns:a16="http://schemas.microsoft.com/office/drawing/2014/main" id="{BDE692F3-3D50-08AD-4D15-68D833F9F2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99FDFF29-BCBC-E2A3-8D4F-E91289D61B90}"/>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3FDFBB39-0A61-3748-E6D2-13915079C8B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45FA78BC-6DC3-D19E-E0A7-872775F3B2F6}"/>
              </a:ext>
            </a:extLst>
          </p:cNvPr>
          <p:cNvSpPr txBox="1"/>
          <p:nvPr/>
        </p:nvSpPr>
        <p:spPr>
          <a:xfrm>
            <a:off x="2254166" y="2122628"/>
            <a:ext cx="15082325" cy="7417415"/>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1. Input</a:t>
            </a:r>
            <a:r>
              <a:rPr lang="en-US" sz="2600" dirty="0">
                <a:latin typeface="Times New Roman" panose="02020603050405020304" pitchFamily="18" charset="0"/>
                <a:cs typeface="Times New Roman" panose="02020603050405020304" pitchFamily="18" charset="0"/>
              </a:rPr>
              <a:t> The Input phase comprises the frontend client interface built with HTML, CSS, and JavaScript. Users and administrators interact with the system through web browsers. They provide inputs such as login credentials, search queries, event creation details (date, venue, price), and requests to book specific quantities of tickets.</a:t>
            </a:r>
          </a:p>
          <a:p>
            <a:r>
              <a:rPr lang="en-US" sz="2600" b="1" dirty="0">
                <a:latin typeface="Times New Roman" panose="02020603050405020304" pitchFamily="18" charset="0"/>
                <a:cs typeface="Times New Roman" panose="02020603050405020304" pitchFamily="18" charset="0"/>
              </a:rPr>
              <a:t>2. Processing</a:t>
            </a:r>
            <a:r>
              <a:rPr lang="en-US" sz="2600" dirty="0">
                <a:latin typeface="Times New Roman" panose="02020603050405020304" pitchFamily="18" charset="0"/>
                <a:cs typeface="Times New Roman" panose="02020603050405020304" pitchFamily="18" charset="0"/>
              </a:rPr>
              <a:t> The Processing phase is handled by the backend Node.js server using the Express.js framework. When the server receives an HTTP request from the frontend, it first passes through Authentication Middleware. This middleware verifies JWT tokens for session security and uses </a:t>
            </a:r>
            <a:r>
              <a:rPr lang="en-US" sz="2600" dirty="0" err="1">
                <a:latin typeface="Times New Roman" panose="02020603050405020304" pitchFamily="18" charset="0"/>
                <a:cs typeface="Times New Roman" panose="02020603050405020304" pitchFamily="18" charset="0"/>
              </a:rPr>
              <a:t>Bcrypt</a:t>
            </a:r>
            <a:r>
              <a:rPr lang="en-US" sz="2600" dirty="0">
                <a:latin typeface="Times New Roman" panose="02020603050405020304" pitchFamily="18" charset="0"/>
                <a:cs typeface="Times New Roman" panose="02020603050405020304" pitchFamily="18" charset="0"/>
              </a:rPr>
              <a:t> to validate passwords. Next, the Business Logic processes the request—for instance, verifying if an event is still “upcoming” and checking if the requested number of seats is available before allowing a booking to proceed.</a:t>
            </a:r>
          </a:p>
          <a:p>
            <a:r>
              <a:rPr lang="en-US" sz="2600" b="1" dirty="0">
                <a:latin typeface="Times New Roman" panose="02020603050405020304" pitchFamily="18" charset="0"/>
                <a:cs typeface="Times New Roman" panose="02020603050405020304" pitchFamily="18" charset="0"/>
              </a:rPr>
              <a:t>3. Database </a:t>
            </a:r>
            <a:r>
              <a:rPr lang="en-US" sz="2600" dirty="0">
                <a:latin typeface="Times New Roman" panose="02020603050405020304" pitchFamily="18" charset="0"/>
                <a:cs typeface="Times New Roman" panose="02020603050405020304" pitchFamily="18" charset="0"/>
              </a:rPr>
              <a:t>The database uses 3 different tables </a:t>
            </a:r>
            <a:r>
              <a:rPr lang="en-US" sz="2600" dirty="0" err="1">
                <a:latin typeface="Times New Roman" panose="02020603050405020304" pitchFamily="18" charset="0"/>
                <a:cs typeface="Times New Roman" panose="02020603050405020304" pitchFamily="18" charset="0"/>
              </a:rPr>
              <a:t>ie</a:t>
            </a:r>
            <a:r>
              <a:rPr lang="en-US" sz="2600" dirty="0">
                <a:latin typeface="Times New Roman" panose="02020603050405020304" pitchFamily="18" charset="0"/>
                <a:cs typeface="Times New Roman" panose="02020603050405020304" pitchFamily="18" charset="0"/>
              </a:rPr>
              <a:t> events, </a:t>
            </a:r>
            <a:r>
              <a:rPr lang="en-US" sz="2600" dirty="0" err="1">
                <a:latin typeface="Times New Roman" panose="02020603050405020304" pitchFamily="18" charset="0"/>
                <a:cs typeface="Times New Roman" panose="02020603050405020304" pitchFamily="18" charset="0"/>
              </a:rPr>
              <a:t>users,bookings</a:t>
            </a:r>
            <a:r>
              <a:rPr lang="en-US" sz="2600" dirty="0">
                <a:latin typeface="Times New Roman" panose="02020603050405020304" pitchFamily="18" charset="0"/>
                <a:cs typeface="Times New Roman" panose="02020603050405020304" pitchFamily="18" charset="0"/>
              </a:rPr>
              <a:t>.</a:t>
            </a:r>
          </a:p>
          <a:p>
            <a:r>
              <a:rPr lang="en-US" sz="2600" b="1" dirty="0">
                <a:latin typeface="Times New Roman" panose="02020603050405020304" pitchFamily="18" charset="0"/>
                <a:cs typeface="Times New Roman" panose="02020603050405020304" pitchFamily="18" charset="0"/>
              </a:rPr>
              <a:t>4. Output </a:t>
            </a:r>
            <a:r>
              <a:rPr lang="en-US" sz="2600" dirty="0">
                <a:latin typeface="Times New Roman" panose="02020603050405020304" pitchFamily="18" charset="0"/>
                <a:cs typeface="Times New Roman" panose="02020603050405020304" pitchFamily="18" charset="0"/>
              </a:rPr>
              <a:t>The frontend JavaScript receives this JSON and dynamically updates the UI. For users, the output includes live event listings, dynamic seat progress bars, and booking confirmation modals. For administrators, the output includes visually rendered charting data (via Chart.js) showing revenue trends and ticket utilization across all events.</a:t>
            </a:r>
            <a:endParaRPr lang="en-IN" sz="26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p>
          <a:p>
            <a:pPr marL="457200" indent="-457200">
              <a:buFontTx/>
              <a:buChar char="-"/>
            </a:pPr>
            <a:endParaRPr lang="en-IN" sz="2800" dirty="0"/>
          </a:p>
          <a:p>
            <a:pPr marL="457200" indent="-457200">
              <a:buFontTx/>
              <a:buChar char="-"/>
            </a:pPr>
            <a:endParaRPr lang="en-IN" sz="2800" dirty="0"/>
          </a:p>
          <a:p>
            <a:pPr marL="457200" indent="-457200">
              <a:buFontTx/>
              <a:buChar char="-"/>
            </a:pPr>
            <a:endParaRPr lang="en-IN" sz="2800" dirty="0"/>
          </a:p>
        </p:txBody>
      </p:sp>
    </p:spTree>
    <p:extLst>
      <p:ext uri="{BB962C8B-B14F-4D97-AF65-F5344CB8AC3E}">
        <p14:creationId xmlns:p14="http://schemas.microsoft.com/office/powerpoint/2010/main" val="2117196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18073E6-A266-FBA6-E8BE-AAA291C85E1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67000" y="1146935"/>
            <a:ext cx="13501263" cy="77770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489752" y="2052776"/>
            <a:ext cx="15082325" cy="8956298"/>
          </a:xfrm>
          <a:prstGeom prst="rect">
            <a:avLst/>
          </a:prstGeom>
          <a:noFill/>
        </p:spPr>
        <p:txBody>
          <a:bodyPr wrap="square" rtlCol="0">
            <a:spAutoFit/>
          </a:bodyPr>
          <a:lstStyle/>
          <a:p>
            <a:endParaRPr lang="en-US" sz="3000" dirty="0">
              <a:latin typeface="Times New Roman" panose="02020603050405020304" pitchFamily="18" charset="0"/>
              <a:cs typeface="Times New Roman" panose="02020603050405020304" pitchFamily="18" charset="0"/>
            </a:endParaRPr>
          </a:p>
          <a:p>
            <a:pPr marL="457200" indent="-457200">
              <a:buFontTx/>
              <a:buChar char="-"/>
            </a:pPr>
            <a:r>
              <a:rPr lang="en-US" sz="3000" b="1" dirty="0">
                <a:latin typeface="Times New Roman" panose="02020603050405020304" pitchFamily="18" charset="0"/>
                <a:cs typeface="Times New Roman" panose="02020603050405020304" pitchFamily="18" charset="0"/>
              </a:rPr>
              <a:t>Frontend: </a:t>
            </a:r>
            <a:r>
              <a:rPr lang="en-US" sz="3000" dirty="0">
                <a:latin typeface="Times New Roman" panose="02020603050405020304" pitchFamily="18" charset="0"/>
                <a:cs typeface="Times New Roman" panose="02020603050405020304" pitchFamily="18" charset="0"/>
              </a:rPr>
              <a:t>HTML5, CSS3, JavaScript </a:t>
            </a:r>
          </a:p>
          <a:p>
            <a:pPr marL="457200" indent="-457200">
              <a:buFontTx/>
              <a:buChar char="-"/>
            </a:pPr>
            <a:r>
              <a:rPr lang="en-US" sz="3000" b="1" dirty="0">
                <a:latin typeface="Times New Roman" panose="02020603050405020304" pitchFamily="18" charset="0"/>
                <a:cs typeface="Times New Roman" panose="02020603050405020304" pitchFamily="18" charset="0"/>
              </a:rPr>
              <a:t>Backend: </a:t>
            </a:r>
            <a:r>
              <a:rPr lang="en-US" sz="3000" dirty="0">
                <a:latin typeface="Times New Roman" panose="02020603050405020304" pitchFamily="18" charset="0"/>
                <a:cs typeface="Times New Roman" panose="02020603050405020304" pitchFamily="18" charset="0"/>
              </a:rPr>
              <a:t>Node.js, Express.js</a:t>
            </a:r>
          </a:p>
          <a:p>
            <a:pPr marL="457200" indent="-457200">
              <a:buFontTx/>
              <a:buChar char="-"/>
            </a:pPr>
            <a:r>
              <a:rPr lang="en-US" sz="3000" b="1" dirty="0">
                <a:latin typeface="Times New Roman" panose="02020603050405020304" pitchFamily="18" charset="0"/>
                <a:cs typeface="Times New Roman" panose="02020603050405020304" pitchFamily="18" charset="0"/>
              </a:rPr>
              <a:t>Database: </a:t>
            </a:r>
            <a:r>
              <a:rPr lang="en-US" sz="3000" dirty="0">
                <a:latin typeface="Times New Roman" panose="02020603050405020304" pitchFamily="18" charset="0"/>
                <a:cs typeface="Times New Roman" panose="02020603050405020304" pitchFamily="18" charset="0"/>
              </a:rPr>
              <a:t>MySQL </a:t>
            </a:r>
          </a:p>
          <a:p>
            <a:pPr marL="457200" indent="-457200">
              <a:buFontTx/>
              <a:buChar char="-"/>
            </a:pPr>
            <a:r>
              <a:rPr lang="en-US" sz="3000" b="1" dirty="0">
                <a:latin typeface="Times New Roman" panose="02020603050405020304" pitchFamily="18" charset="0"/>
                <a:cs typeface="Times New Roman" panose="02020603050405020304" pitchFamily="18" charset="0"/>
              </a:rPr>
              <a:t>Tools: </a:t>
            </a:r>
            <a:r>
              <a:rPr lang="en-US" sz="3000" dirty="0">
                <a:latin typeface="Times New Roman" panose="02020603050405020304" pitchFamily="18" charset="0"/>
                <a:cs typeface="Times New Roman" panose="02020603050405020304" pitchFamily="18" charset="0"/>
              </a:rPr>
              <a:t>Chart.js, JWT, Bcrypt.js, </a:t>
            </a:r>
            <a:r>
              <a:rPr lang="en-US" sz="3000" dirty="0" err="1">
                <a:latin typeface="Times New Roman" panose="02020603050405020304" pitchFamily="18" charset="0"/>
                <a:cs typeface="Times New Roman" panose="02020603050405020304" pitchFamily="18" charset="0"/>
              </a:rPr>
              <a:t>Nodemon</a:t>
            </a:r>
            <a:endParaRPr lang="en-US" sz="3000" dirty="0">
              <a:latin typeface="Times New Roman" panose="02020603050405020304" pitchFamily="18" charset="0"/>
              <a:cs typeface="Times New Roman" panose="02020603050405020304" pitchFamily="18" charset="0"/>
            </a:endParaRPr>
          </a:p>
          <a:p>
            <a:pPr marL="457200" indent="-457200">
              <a:buFontTx/>
              <a:buChar char="-"/>
            </a:pPr>
            <a:r>
              <a:rPr lang="en-US" sz="3000" b="1" dirty="0">
                <a:latin typeface="Times New Roman" panose="02020603050405020304" pitchFamily="18" charset="0"/>
                <a:cs typeface="Times New Roman" panose="02020603050405020304" pitchFamily="18" charset="0"/>
              </a:rPr>
              <a:t>Hardware Requirements: </a:t>
            </a:r>
            <a:r>
              <a:rPr lang="en-US" sz="3000" dirty="0">
                <a:latin typeface="Times New Roman" panose="02020603050405020304" pitchFamily="18" charset="0"/>
                <a:cs typeface="Times New Roman" panose="02020603050405020304" pitchFamily="18" charset="0"/>
              </a:rPr>
              <a:t>Intel Core i3 / AMD Ryzen 3+, 4GB RAM, 250MB Storage </a:t>
            </a:r>
          </a:p>
          <a:p>
            <a:pPr marL="457200" indent="-457200">
              <a:buFontTx/>
              <a:buChar char="-"/>
            </a:pPr>
            <a:r>
              <a:rPr lang="en-US" sz="3000" b="1" dirty="0">
                <a:latin typeface="Times New Roman" panose="02020603050405020304" pitchFamily="18" charset="0"/>
                <a:cs typeface="Times New Roman" panose="02020603050405020304" pitchFamily="18" charset="0"/>
              </a:rPr>
              <a:t>Software Requirements: </a:t>
            </a:r>
            <a:r>
              <a:rPr lang="en-US" sz="3000" dirty="0">
                <a:latin typeface="Times New Roman" panose="02020603050405020304" pitchFamily="18" charset="0"/>
                <a:cs typeface="Times New Roman" panose="02020603050405020304" pitchFamily="18" charset="0"/>
              </a:rPr>
              <a:t>Windows/macOS/Linux, Node.js v16+, MySQL Server 8.0+, Modern Web Browser (Chrome/Edge/Firefox)</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3121"/>
            <a:ext cx="15082325" cy="12157174"/>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Module 1: </a:t>
            </a:r>
            <a:r>
              <a:rPr lang="en-US" sz="2800" dirty="0">
                <a:latin typeface="Times New Roman" panose="02020603050405020304" pitchFamily="18" charset="0"/>
                <a:cs typeface="Times New Roman" panose="02020603050405020304" pitchFamily="18" charset="0"/>
              </a:rPr>
              <a:t>User &amp; Authentication Management Handles user registration, highly secure JWT-based login, password encryption, and distinguishes access levels between regular attendees and system administrators.</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2: </a:t>
            </a:r>
            <a:r>
              <a:rPr lang="en-US" sz="2800" dirty="0">
                <a:latin typeface="Times New Roman" panose="02020603050405020304" pitchFamily="18" charset="0"/>
                <a:cs typeface="Times New Roman" panose="02020603050405020304" pitchFamily="18" charset="0"/>
              </a:rPr>
              <a:t>Core Event &amp; Booking Interface Allows users to seamlessly browse upcoming events, filter by status or search terms, and execute secure ticket bookings with real-time seat tracking to prevent double-booking.</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3: </a:t>
            </a:r>
            <a:r>
              <a:rPr lang="en-US" sz="2800" dirty="0">
                <a:latin typeface="Times New Roman" panose="02020603050405020304" pitchFamily="18" charset="0"/>
                <a:cs typeface="Times New Roman" panose="02020603050405020304" pitchFamily="18" charset="0"/>
              </a:rPr>
              <a:t>Database &amp; Transaction Management Manages the structured MySQL relational database, executing core business logic, calculating transaction amounts, and ensuring strict data integrity across user profiles, events, and records.</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4: </a:t>
            </a:r>
            <a:r>
              <a:rPr lang="en-US" sz="2800" dirty="0">
                <a:latin typeface="Times New Roman" panose="02020603050405020304" pitchFamily="18" charset="0"/>
                <a:cs typeface="Times New Roman" panose="02020603050405020304" pitchFamily="18" charset="0"/>
              </a:rPr>
              <a:t>Admin Reporting &amp; Analytics Dashboard Equips administrators with tools to create, edit, or delete events, monitor full booking histories, and view rich, auto-generated charts detailing revenue and venue utilization.</a:t>
            </a:r>
          </a:p>
          <a:p>
            <a:endParaRPr lang="en-US" sz="2800" dirty="0"/>
          </a:p>
          <a:p>
            <a:endParaRPr lang="en-US"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3AFE9FB-1D45-0BF6-AAD3-347F33A7D256}"/>
              </a:ext>
            </a:extLst>
          </p:cNvPr>
          <p:cNvSpPr txBox="1"/>
          <p:nvPr/>
        </p:nvSpPr>
        <p:spPr>
          <a:xfrm>
            <a:off x="3176685" y="7793962"/>
            <a:ext cx="12749115" cy="1292662"/>
          </a:xfrm>
          <a:prstGeom prst="rect">
            <a:avLst/>
          </a:prstGeom>
          <a:noFill/>
        </p:spPr>
        <p:txBody>
          <a:bodyPr wrap="square" rtlCol="0">
            <a:spAutoFit/>
          </a:bodyPr>
          <a:lstStyle/>
          <a:p>
            <a:r>
              <a:rPr lang="en-US" sz="2600" dirty="0">
                <a:latin typeface="Times New Roman" panose="02020603050405020304" pitchFamily="18" charset="0"/>
                <a:cs typeface="Times New Roman" panose="02020603050405020304" pitchFamily="18" charset="0"/>
              </a:rPr>
              <a:t>This Is the home page which is used to interact and navigate users to various sections of the website</a:t>
            </a:r>
          </a:p>
          <a:p>
            <a:r>
              <a:rPr lang="en-US" sz="2600" dirty="0">
                <a:latin typeface="Times New Roman" panose="02020603050405020304" pitchFamily="18" charset="0"/>
                <a:cs typeface="Times New Roman" panose="02020603050405020304" pitchFamily="18" charset="0"/>
              </a:rPr>
              <a:t>It’s main purpose is to guide the users.</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73B67B1-891A-4F92-BFBE-413576FB571B}"/>
              </a:ext>
            </a:extLst>
          </p:cNvPr>
          <p:cNvPicPr>
            <a:picLocks noChangeAspect="1"/>
          </p:cNvPicPr>
          <p:nvPr/>
        </p:nvPicPr>
        <p:blipFill>
          <a:blip r:embed="rId4"/>
          <a:stretch>
            <a:fillRect/>
          </a:stretch>
        </p:blipFill>
        <p:spPr>
          <a:xfrm>
            <a:off x="2608595" y="1100544"/>
            <a:ext cx="13737595" cy="6545813"/>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Box 3">
            <a:extLst>
              <a:ext uri="{FF2B5EF4-FFF2-40B4-BE49-F238E27FC236}">
                <a16:creationId xmlns:a16="http://schemas.microsoft.com/office/drawing/2014/main" id="{7A832F93-3B38-1D4F-DCF1-413877C903AF}"/>
              </a:ext>
            </a:extLst>
          </p:cNvPr>
          <p:cNvSpPr txBox="1"/>
          <p:nvPr/>
        </p:nvSpPr>
        <p:spPr>
          <a:xfrm>
            <a:off x="2514600" y="7793962"/>
            <a:ext cx="13932169" cy="1292662"/>
          </a:xfrm>
          <a:prstGeom prst="rect">
            <a:avLst/>
          </a:prstGeom>
          <a:noFill/>
        </p:spPr>
        <p:txBody>
          <a:bodyPr wrap="square" rtlCol="0">
            <a:spAutoFit/>
          </a:bodyPr>
          <a:lstStyle/>
          <a:p>
            <a:r>
              <a:rPr lang="en-US" sz="2600" dirty="0">
                <a:latin typeface="Times New Roman" panose="02020603050405020304" pitchFamily="18" charset="0"/>
                <a:cs typeface="Times New Roman" panose="02020603050405020304" pitchFamily="18" charset="0"/>
              </a:rPr>
              <a:t>This is the login page where the user has to enter the credentials in order to access the webpage for booking the events or exploring the events </a:t>
            </a:r>
          </a:p>
          <a:p>
            <a:r>
              <a:rPr lang="en-US" sz="2600" dirty="0">
                <a:latin typeface="Times New Roman" panose="02020603050405020304" pitchFamily="18" charset="0"/>
                <a:cs typeface="Times New Roman" panose="02020603050405020304" pitchFamily="18" charset="0"/>
              </a:rPr>
              <a:t>Fields required (username, password) </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B15905-82B3-9602-F610-B2A8B94973E5}"/>
              </a:ext>
            </a:extLst>
          </p:cNvPr>
          <p:cNvPicPr>
            <a:picLocks noChangeAspect="1"/>
          </p:cNvPicPr>
          <p:nvPr/>
        </p:nvPicPr>
        <p:blipFill>
          <a:blip r:embed="rId4"/>
          <a:stretch>
            <a:fillRect/>
          </a:stretch>
        </p:blipFill>
        <p:spPr>
          <a:xfrm>
            <a:off x="2287743" y="1307337"/>
            <a:ext cx="13636313" cy="6494836"/>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Box 3">
            <a:extLst>
              <a:ext uri="{FF2B5EF4-FFF2-40B4-BE49-F238E27FC236}">
                <a16:creationId xmlns:a16="http://schemas.microsoft.com/office/drawing/2014/main" id="{BF77CBED-97A9-AFA1-D608-EB9855640E9C}"/>
              </a:ext>
            </a:extLst>
          </p:cNvPr>
          <p:cNvSpPr txBox="1"/>
          <p:nvPr/>
        </p:nvSpPr>
        <p:spPr>
          <a:xfrm>
            <a:off x="2937258" y="8141365"/>
            <a:ext cx="14656070" cy="1169551"/>
          </a:xfrm>
          <a:prstGeom prst="rect">
            <a:avLst/>
          </a:prstGeom>
          <a:noFill/>
        </p:spPr>
        <p:txBody>
          <a:bodyPr wrap="square" rtlCol="0">
            <a:spAutoFit/>
          </a:bodyPr>
          <a:lstStyle/>
          <a:p>
            <a:r>
              <a:rPr lang="en-US" sz="2600" dirty="0">
                <a:latin typeface="Times New Roman" panose="02020603050405020304" pitchFamily="18" charset="0"/>
                <a:cs typeface="Times New Roman" panose="02020603050405020304" pitchFamily="18" charset="0"/>
              </a:rPr>
              <a:t>This page is used for browsing events and can also be used to book tickets for the events.</a:t>
            </a:r>
          </a:p>
          <a:p>
            <a:r>
              <a:rPr lang="en-US" sz="2600" dirty="0">
                <a:latin typeface="Times New Roman" panose="02020603050405020304" pitchFamily="18" charset="0"/>
                <a:cs typeface="Times New Roman" panose="02020603050405020304" pitchFamily="18" charset="0"/>
              </a:rPr>
              <a:t>Events can be added via admin panel</a:t>
            </a:r>
          </a:p>
          <a:p>
            <a:endParaRPr lang="en-IN" dirty="0"/>
          </a:p>
        </p:txBody>
      </p:sp>
      <p:pic>
        <p:nvPicPr>
          <p:cNvPr id="5" name="Picture 4">
            <a:extLst>
              <a:ext uri="{FF2B5EF4-FFF2-40B4-BE49-F238E27FC236}">
                <a16:creationId xmlns:a16="http://schemas.microsoft.com/office/drawing/2014/main" id="{5F5B11B5-F9C6-2D89-D9FD-81009EA38B2D}"/>
              </a:ext>
            </a:extLst>
          </p:cNvPr>
          <p:cNvPicPr>
            <a:picLocks noChangeAspect="1"/>
          </p:cNvPicPr>
          <p:nvPr/>
        </p:nvPicPr>
        <p:blipFill>
          <a:blip r:embed="rId4"/>
          <a:stretch>
            <a:fillRect/>
          </a:stretch>
        </p:blipFill>
        <p:spPr>
          <a:xfrm>
            <a:off x="1877446" y="1341427"/>
            <a:ext cx="14435974" cy="6823048"/>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Box 3">
            <a:extLst>
              <a:ext uri="{FF2B5EF4-FFF2-40B4-BE49-F238E27FC236}">
                <a16:creationId xmlns:a16="http://schemas.microsoft.com/office/drawing/2014/main" id="{93148918-0732-D0D5-5DB4-17B9DBD856A8}"/>
              </a:ext>
            </a:extLst>
          </p:cNvPr>
          <p:cNvSpPr txBox="1"/>
          <p:nvPr/>
        </p:nvSpPr>
        <p:spPr>
          <a:xfrm>
            <a:off x="2743200" y="7886700"/>
            <a:ext cx="14185318" cy="892552"/>
          </a:xfrm>
          <a:prstGeom prst="rect">
            <a:avLst/>
          </a:prstGeom>
          <a:noFill/>
        </p:spPr>
        <p:txBody>
          <a:bodyPr wrap="square" rtlCol="0">
            <a:spAutoFit/>
          </a:bodyPr>
          <a:lstStyle/>
          <a:p>
            <a:r>
              <a:rPr lang="en-US" sz="2600" dirty="0">
                <a:latin typeface="Times New Roman" panose="02020603050405020304" pitchFamily="18" charset="0"/>
                <a:cs typeface="Times New Roman" panose="02020603050405020304" pitchFamily="18" charset="0"/>
              </a:rPr>
              <a:t>Event booking history is shown via user dashboard.</a:t>
            </a:r>
          </a:p>
          <a:p>
            <a:r>
              <a:rPr lang="en-US" sz="2600" dirty="0">
                <a:latin typeface="Times New Roman" panose="02020603050405020304" pitchFamily="18" charset="0"/>
                <a:cs typeface="Times New Roman" panose="02020603050405020304" pitchFamily="18" charset="0"/>
              </a:rPr>
              <a:t>User can see/access his/her bookings via my bookings tab</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B9FFF05-B0FB-CCAF-CF15-3566AE499EE4}"/>
              </a:ext>
            </a:extLst>
          </p:cNvPr>
          <p:cNvPicPr>
            <a:picLocks noChangeAspect="1"/>
          </p:cNvPicPr>
          <p:nvPr/>
        </p:nvPicPr>
        <p:blipFill>
          <a:blip r:embed="rId4"/>
          <a:stretch>
            <a:fillRect/>
          </a:stretch>
        </p:blipFill>
        <p:spPr>
          <a:xfrm>
            <a:off x="2162160" y="1320206"/>
            <a:ext cx="13496005" cy="6413943"/>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0E3688E-9A56-BCAF-90A4-7C5A91C02833}"/>
              </a:ext>
            </a:extLst>
          </p:cNvPr>
          <p:cNvSpPr txBox="1"/>
          <p:nvPr/>
        </p:nvSpPr>
        <p:spPr>
          <a:xfrm>
            <a:off x="2259299" y="1772063"/>
            <a:ext cx="14045782" cy="6894195"/>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Advantages</a:t>
            </a:r>
          </a:p>
          <a:p>
            <a:r>
              <a:rPr lang="en-US" sz="2600" b="1" dirty="0">
                <a:latin typeface="Times New Roman" panose="02020603050405020304" pitchFamily="18" charset="0"/>
                <a:cs typeface="Times New Roman" panose="02020603050405020304" pitchFamily="18" charset="0"/>
              </a:rPr>
              <a:t>Efficiency: </a:t>
            </a:r>
            <a:r>
              <a:rPr lang="en-US" sz="2600" dirty="0">
                <a:latin typeface="Times New Roman" panose="02020603050405020304" pitchFamily="18" charset="0"/>
                <a:cs typeface="Times New Roman" panose="02020603050405020304" pitchFamily="18" charset="0"/>
              </a:rPr>
              <a:t>Automates the complete event lifecycle, greatly reducing manual administrative work.</a:t>
            </a:r>
          </a:p>
          <a:p>
            <a:r>
              <a:rPr lang="en-US" sz="2600" b="1" dirty="0">
                <a:latin typeface="Times New Roman" panose="02020603050405020304" pitchFamily="18" charset="0"/>
                <a:cs typeface="Times New Roman" panose="02020603050405020304" pitchFamily="18" charset="0"/>
              </a:rPr>
              <a:t>Accurate Real-Time Seating: </a:t>
            </a:r>
            <a:r>
              <a:rPr lang="en-US" sz="2600" dirty="0">
                <a:latin typeface="Times New Roman" panose="02020603050405020304" pitchFamily="18" charset="0"/>
                <a:cs typeface="Times New Roman" panose="02020603050405020304" pitchFamily="18" charset="0"/>
              </a:rPr>
              <a:t>Database transaction logic automatically updates live seat availability, strictly preventing double-booking during checkouts.</a:t>
            </a:r>
          </a:p>
          <a:p>
            <a:r>
              <a:rPr lang="en-US" sz="2600" b="1" dirty="0">
                <a:latin typeface="Times New Roman" panose="02020603050405020304" pitchFamily="18" charset="0"/>
                <a:cs typeface="Times New Roman" panose="02020603050405020304" pitchFamily="18" charset="0"/>
              </a:rPr>
              <a:t>Data Analytics: </a:t>
            </a:r>
            <a:r>
              <a:rPr lang="en-US" sz="2600" dirty="0">
                <a:latin typeface="Times New Roman" panose="02020603050405020304" pitchFamily="18" charset="0"/>
                <a:cs typeface="Times New Roman" panose="02020603050405020304" pitchFamily="18" charset="0"/>
              </a:rPr>
              <a:t>Features an integrated dashboard with interactive charts, allowing organizers to easily visualize revenue and ticket utilization.</a:t>
            </a:r>
          </a:p>
          <a:p>
            <a:r>
              <a:rPr lang="en-US" sz="2600" b="1" dirty="0">
                <a:latin typeface="Times New Roman" panose="02020603050405020304" pitchFamily="18" charset="0"/>
                <a:cs typeface="Times New Roman" panose="02020603050405020304" pitchFamily="18" charset="0"/>
              </a:rPr>
              <a:t>High Security: </a:t>
            </a:r>
            <a:r>
              <a:rPr lang="en-US" sz="2600" dirty="0">
                <a:latin typeface="Times New Roman" panose="02020603050405020304" pitchFamily="18" charset="0"/>
                <a:cs typeface="Times New Roman" panose="02020603050405020304" pitchFamily="18" charset="0"/>
              </a:rPr>
              <a:t>Uses secure password encryption (</a:t>
            </a:r>
            <a:r>
              <a:rPr lang="en-US" sz="2600" dirty="0" err="1">
                <a:latin typeface="Times New Roman" panose="02020603050405020304" pitchFamily="18" charset="0"/>
                <a:cs typeface="Times New Roman" panose="02020603050405020304" pitchFamily="18" charset="0"/>
              </a:rPr>
              <a:t>Bcrypt</a:t>
            </a:r>
            <a:r>
              <a:rPr lang="en-US" sz="2600" dirty="0">
                <a:latin typeface="Times New Roman" panose="02020603050405020304" pitchFamily="18" charset="0"/>
                <a:cs typeface="Times New Roman" panose="02020603050405020304" pitchFamily="18" charset="0"/>
              </a:rPr>
              <a:t>) and session handling (JWT) to deeply separate administrative powers from standard user behavior.</a:t>
            </a:r>
          </a:p>
          <a:p>
            <a:r>
              <a:rPr lang="en-US" sz="2600" b="1" dirty="0">
                <a:latin typeface="Times New Roman" panose="02020603050405020304" pitchFamily="18" charset="0"/>
                <a:cs typeface="Times New Roman" panose="02020603050405020304" pitchFamily="18" charset="0"/>
              </a:rPr>
              <a:t>User Convenience: </a:t>
            </a:r>
            <a:r>
              <a:rPr lang="en-US" sz="2600" dirty="0">
                <a:latin typeface="Times New Roman" panose="02020603050405020304" pitchFamily="18" charset="0"/>
                <a:cs typeface="Times New Roman" panose="02020603050405020304" pitchFamily="18" charset="0"/>
              </a:rPr>
              <a:t>Attendees can enjoy a self-serve platform 24/7 to browse, instantly book tickets, and manage their personal transaction history.</a:t>
            </a:r>
          </a:p>
          <a:p>
            <a:r>
              <a:rPr lang="en-US" sz="2600" b="1" dirty="0">
                <a:latin typeface="Times New Roman" panose="02020603050405020304" pitchFamily="18" charset="0"/>
                <a:cs typeface="Times New Roman" panose="02020603050405020304" pitchFamily="18" charset="0"/>
              </a:rPr>
              <a:t>Limitations</a:t>
            </a:r>
          </a:p>
          <a:p>
            <a:r>
              <a:rPr lang="en-US" sz="2600" b="1" dirty="0">
                <a:latin typeface="Times New Roman" panose="02020603050405020304" pitchFamily="18" charset="0"/>
                <a:cs typeface="Times New Roman" panose="02020603050405020304" pitchFamily="18" charset="0"/>
              </a:rPr>
              <a:t>Demand Scalability: </a:t>
            </a:r>
            <a:r>
              <a:rPr lang="en-US" sz="2600" dirty="0">
                <a:latin typeface="Times New Roman" panose="02020603050405020304" pitchFamily="18" charset="0"/>
                <a:cs typeface="Times New Roman" panose="02020603050405020304" pitchFamily="18" charset="0"/>
              </a:rPr>
              <a:t>It currently relies on a single database layout, which could result in a system bottleneck when thousands of users simultaneously try to book seats for a very high-demand event.</a:t>
            </a:r>
          </a:p>
          <a:p>
            <a:r>
              <a:rPr lang="en-US" sz="2600" b="1" dirty="0">
                <a:latin typeface="Times New Roman" panose="02020603050405020304" pitchFamily="18" charset="0"/>
                <a:cs typeface="Times New Roman" panose="02020603050405020304" pitchFamily="18" charset="0"/>
              </a:rPr>
              <a:t>Payment Processing: </a:t>
            </a:r>
            <a:r>
              <a:rPr lang="en-US" sz="2600" dirty="0">
                <a:latin typeface="Times New Roman" panose="02020603050405020304" pitchFamily="18" charset="0"/>
                <a:cs typeface="Times New Roman" panose="02020603050405020304" pitchFamily="18" charset="0"/>
              </a:rPr>
              <a:t>While internal accounting is handled perfectly, it requires integration with an external payment gateway (like Stripe) in the future to actually process live credit card transactions.</a:t>
            </a:r>
          </a:p>
          <a:p>
            <a:r>
              <a:rPr lang="en-US" sz="2600" b="1" dirty="0">
                <a:latin typeface="Times New Roman" panose="02020603050405020304" pitchFamily="18" charset="0"/>
                <a:cs typeface="Times New Roman" panose="02020603050405020304" pitchFamily="18" charset="0"/>
              </a:rPr>
              <a:t>No Push Notifications: </a:t>
            </a:r>
            <a:r>
              <a:rPr lang="en-US" sz="2600" dirty="0">
                <a:latin typeface="Times New Roman" panose="02020603050405020304" pitchFamily="18" charset="0"/>
                <a:cs typeface="Times New Roman" panose="02020603050405020304" pitchFamily="18" charset="0"/>
              </a:rPr>
              <a:t>The platform does not currently send proactive confirmation emails or SMS reminders for upcoming events; users must check their status within the dashboard.</a:t>
            </a: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TotalTime>
  <Words>1597</Words>
  <Application>Microsoft Office PowerPoint</Application>
  <PresentationFormat>Custom</PresentationFormat>
  <Paragraphs>284</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Bookman Old Style</vt:lpstr>
      <vt:lpstr>Arial</vt:lpstr>
      <vt:lpstr>Calibri</vt:lpstr>
      <vt:lpstr>Times New Roman</vt:lpstr>
      <vt:lpstr>Cambria</vt:lpstr>
      <vt:lpstr>Gotham</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Sricharan Ch</dc:creator>
  <cp:lastModifiedBy>Sricharan Ch</cp:lastModifiedBy>
  <cp:revision>15</cp:revision>
  <dcterms:created xsi:type="dcterms:W3CDTF">2006-08-16T00:00:00Z</dcterms:created>
  <dcterms:modified xsi:type="dcterms:W3CDTF">2026-03-25T17:45:08Z</dcterms:modified>
  <dc:identifier>DAHCaYqJ9OU</dc:identifier>
</cp:coreProperties>
</file>